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  <p:sldId id="264" r:id="rId4"/>
    <p:sldId id="258" r:id="rId5"/>
    <p:sldId id="263" r:id="rId6"/>
    <p:sldId id="259" r:id="rId7"/>
    <p:sldId id="265" r:id="rId8"/>
    <p:sldId id="260" r:id="rId9"/>
    <p:sldId id="268" r:id="rId10"/>
    <p:sldId id="270" r:id="rId11"/>
    <p:sldId id="261" r:id="rId12"/>
    <p:sldId id="267" r:id="rId13"/>
    <p:sldId id="269" r:id="rId14"/>
    <p:sldId id="262" r:id="rId15"/>
    <p:sldId id="266" r:id="rId16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7" autoAdjust="0"/>
    <p:restoredTop sz="94660"/>
  </p:normalViewPr>
  <p:slideViewPr>
    <p:cSldViewPr snapToGrid="0">
      <p:cViewPr>
        <p:scale>
          <a:sx n="100" d="100"/>
          <a:sy n="100" d="100"/>
        </p:scale>
        <p:origin x="702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B33F-71F4-A700-8D38-38B05ABB4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3C1BA-AB31-3A62-2E6E-D5DEA4272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D85C4-4600-D5FC-3F76-3555E6ED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6CBE-6DD9-4DDE-9E10-66EC657D7EAC}" type="datetimeFigureOut">
              <a:rPr lang="hr-HR" smtClean="0"/>
              <a:t>1.6.2022.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33505-A0B0-E6BF-D84F-A74F63A83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8F4B1-853E-0D42-D77B-3C914563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7F3-3DCF-4A8E-B655-2ACD121C0B5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1743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D254-B20E-6E30-DB73-6F2C66CE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768CE-4472-7969-04A2-EAEB86F23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18002-9B11-B285-1BF2-B6BF1D0C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6CBE-6DD9-4DDE-9E10-66EC657D7EAC}" type="datetimeFigureOut">
              <a:rPr lang="hr-HR" smtClean="0"/>
              <a:t>1.6.2022.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B5F82-9C79-3314-7672-215E8975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9F76C-D58F-5699-7EF5-B41D618C2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7F3-3DCF-4A8E-B655-2ACD121C0B5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46691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A6D31-1519-AF01-FC53-23D8B555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820B-E428-105D-2234-DA463CACB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FB109-87B9-725F-7301-BE8B8604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6CBE-6DD9-4DDE-9E10-66EC657D7EAC}" type="datetimeFigureOut">
              <a:rPr lang="hr-HR" smtClean="0"/>
              <a:t>1.6.2022.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5EDA0-B297-2CA2-33C0-28219E18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92053-C8DE-E236-3485-CDA41165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7F3-3DCF-4A8E-B655-2ACD121C0B5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90743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70CCB-CF21-2044-4314-8FEE95887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9957C-A92B-727B-9B3B-0A1E49611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9C773-AEDD-4FDF-0BAF-0D415E895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1DA93-B3AF-FD55-38C5-3F064BF9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6CBE-6DD9-4DDE-9E10-66EC657D7EAC}" type="datetimeFigureOut">
              <a:rPr lang="hr-HR" smtClean="0"/>
              <a:t>1.6.2022.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C6D91-16B7-61A8-F672-575DD94E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B5652-A208-23E6-D312-48FDCCC90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7F3-3DCF-4A8E-B655-2ACD121C0B5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9098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1564-8224-7C20-7D7A-6D6C710A1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87BA2-38C0-E93D-9AE0-E7D024272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D5055-2700-D79C-783F-D177AD141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F8AD0-EB9C-8357-FD41-9FC3C7A6D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FF5643-D95E-13BC-DA24-06DFD9835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EEE79-6DB6-5B12-3B3A-680CAE2F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6CBE-6DD9-4DDE-9E10-66EC657D7EAC}" type="datetimeFigureOut">
              <a:rPr lang="hr-HR" smtClean="0"/>
              <a:t>1.6.2022.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2F2564-8F4B-1E34-46F3-E16D9C57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64FB45-8E6D-2E16-08BA-F2F1A4B85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7F3-3DCF-4A8E-B655-2ACD121C0B5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91211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23FE-C557-EA4E-EE65-CDA7F65C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22C99-D4FC-33A1-B6E4-0EE6A3B2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6CBE-6DD9-4DDE-9E10-66EC657D7EAC}" type="datetimeFigureOut">
              <a:rPr lang="hr-HR" smtClean="0"/>
              <a:t>1.6.2022.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55B456-1460-37F6-73D1-521315C62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E70C9-764A-D034-833F-7BC825FB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7F3-3DCF-4A8E-B655-2ACD121C0B5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7122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DF941A-9B81-2D18-CA11-D56EA45A1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6CBE-6DD9-4DDE-9E10-66EC657D7EAC}" type="datetimeFigureOut">
              <a:rPr lang="hr-HR" smtClean="0"/>
              <a:t>1.6.2022.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09243-EE5C-5F1E-C21A-1DEEEB2A4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524BB-8B98-8A01-7A9B-4BB17CE5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7F3-3DCF-4A8E-B655-2ACD121C0B5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4150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6DBA-F647-53C8-F946-8D3CBB370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58BDF-207D-8814-195F-4DBCE55AD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E88E2-C494-9F02-5259-F3D7C49DD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C6729-07F4-F748-DFFD-B86E3E4B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6CBE-6DD9-4DDE-9E10-66EC657D7EAC}" type="datetimeFigureOut">
              <a:rPr lang="hr-HR" smtClean="0"/>
              <a:t>1.6.2022.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91E04-5D46-1DCF-55B4-CD4F43839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C1148-E671-21BA-38C8-972673F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7F3-3DCF-4A8E-B655-2ACD121C0B5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14136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9EBF-399E-A270-9FF2-702FD8938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26E8C-C5B0-62C4-8B26-BCDBBEF36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0FA8F-24E2-89D5-8EA6-303D64A88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7FF7B-0140-E4F2-3CE9-B5423F13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6CBE-6DD9-4DDE-9E10-66EC657D7EAC}" type="datetimeFigureOut">
              <a:rPr lang="hr-HR" smtClean="0"/>
              <a:t>1.6.2022.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187F4-91BD-7C34-F1F1-40DF33C8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49081-A242-6CFE-C692-5094E7F7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7F3-3DCF-4A8E-B655-2ACD121C0B5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49064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7C741-AF95-463E-9998-2EF646F3F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FBCA5-09B4-EAD6-4833-7B5C80CCE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40C0-D2A4-5FC2-5A63-B3F23A205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6CBE-6DD9-4DDE-9E10-66EC657D7EAC}" type="datetimeFigureOut">
              <a:rPr lang="hr-HR" smtClean="0"/>
              <a:t>1.6.2022.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13FAF-90A6-ECAC-6907-9F585E400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3B679-05D8-63AD-8854-D91BC096F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7F3-3DCF-4A8E-B655-2ACD121C0B5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4204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E12A6F-ECA5-6A3F-5099-93CF1827C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FCB88-B2C2-95A1-65E7-99E1AC3E1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1D665-BB50-DB49-8D08-B6D496641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E6CBE-6DD9-4DDE-9E10-66EC657D7EAC}" type="datetimeFigureOut">
              <a:rPr lang="hr-HR" smtClean="0"/>
              <a:t>1.6.2022.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B8AE-A17C-316E-44FD-5E1C85EDB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3AA37-16D9-C585-34CF-82872C1E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7F3-3DCF-4A8E-B655-2ACD121C0B5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36917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5D27DD-31F8-F27B-018C-46832602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1053E-D811-3D74-E833-F9DCD0152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32EF9-33B4-9C22-0D60-4BF42EF6E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E6CBE-6DD9-4DDE-9E10-66EC657D7EAC}" type="datetimeFigureOut">
              <a:rPr lang="hr-HR" smtClean="0"/>
              <a:t>1.6.2022.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4C2E4-6AF5-7AA0-87B1-353160BC7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AD272-FFBB-8675-B500-8720C1D5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1D7F3-3DCF-4A8E-B655-2ACD121C0B5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6700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CFE3-BC00-4A9A-8A4B-D90C62D405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Auditorne vježbe</a:t>
            </a:r>
            <a:br>
              <a:rPr lang="hr-HR" dirty="0"/>
            </a:br>
            <a:r>
              <a:rPr lang="hr-HR" dirty="0"/>
              <a:t>Vjetroelektrane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938329-135D-B93D-E3CD-849F3E3F7E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01.06.2022.</a:t>
            </a:r>
          </a:p>
        </p:txBody>
      </p:sp>
    </p:spTree>
    <p:extLst>
      <p:ext uri="{BB962C8B-B14F-4D97-AF65-F5344CB8AC3E}">
        <p14:creationId xmlns:p14="http://schemas.microsoft.com/office/powerpoint/2010/main" val="3215201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2A78-067D-F1E5-F0EB-593003AE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1. zadatak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32BD4-8FA8-69CB-DC61-ECAD5280E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Vjetroagregat napaja trošilo nazivne snage 100 kW. Prosječna brzina vjetra na lokaciji iznosi 5 m/s. Koliki je minimalan potrebni promjer vjetroturbine da bi se osiguralo napajanje trošila pri prosječnoj brzini? Pretpostaviti da gustoća zraka iznosi 1.225 kg/m</a:t>
            </a:r>
            <a:r>
              <a:rPr lang="hr-HR" b="1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 c</a:t>
            </a:r>
            <a:r>
              <a:rPr lang="hr-HR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</a:t>
            </a:r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c</a:t>
            </a:r>
            <a:r>
              <a:rPr lang="hr-HR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0,59.</a:t>
            </a:r>
            <a:endParaRPr lang="hr-HR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r-HR" b="1" dirty="0"/>
          </a:p>
        </p:txBody>
      </p:sp>
    </p:spTree>
    <p:extLst>
      <p:ext uri="{BB962C8B-B14F-4D97-AF65-F5344CB8AC3E}">
        <p14:creationId xmlns:p14="http://schemas.microsoft.com/office/powerpoint/2010/main" val="323266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A4BF8-1619-750B-B23B-9853E87C1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AE8E2-EC2B-B119-364E-77624F85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hr-H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Snaga vjetroagregata računa se prema izrazu:</a:t>
            </a:r>
            <a:endParaRPr lang="hr-H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0,5 •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A • 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hr-H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hr-H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Površina koju zatvaraju lopatice vjetroagregata u rotaciji iznosi:</a:t>
            </a:r>
            <a:endParaRPr lang="hr-H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2 • 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(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= 2 • 100.000 / (1,225 • 0,59 • 5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= 2.214 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i="1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hr-H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hr-H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 temelju izraza za površinu kruga najmanji promjer lopatica turbine iznosi:</a:t>
            </a:r>
            <a:endParaRPr lang="hr-H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√(4 • 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= √(4 • 2.214 /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= 53,1 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endParaRPr lang="hr-H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764566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A997D-4171-B333-C2B0-8806FE164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2. zadatak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1F471-90F2-CCB8-0775-A9BDC3AD0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Vjetroagregat (promjer lopatica 76 m, nazivne snage 1.5 MW) ima ukupni stupanj djelovanja 0.49 kod brzine vjetra od 7 m/s koja se javlja tijekom 30% vremena u godini. Brzina vjetra između nazivne (12 m/s) i maksimalne se javlja tijekom 15% vremena (kada VA cijelo vrijeme postiže nazivnu snagu), a ostatak vremena VA ne radi. Kolika je predvidiva godišnja proizvodnja električne energije? Koliko iznosi c</a:t>
            </a:r>
            <a:r>
              <a:rPr lang="hr-HR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</a:t>
            </a:r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za nazivnu brzinu i koliki je faktor opterećenja VA?</a:t>
            </a:r>
            <a:endParaRPr lang="hr-HR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r-HR" b="1" dirty="0"/>
          </a:p>
        </p:txBody>
      </p:sp>
    </p:spTree>
    <p:extLst>
      <p:ext uri="{BB962C8B-B14F-4D97-AF65-F5344CB8AC3E}">
        <p14:creationId xmlns:p14="http://schemas.microsoft.com/office/powerpoint/2010/main" val="1281293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6CC6-06C1-A209-8487-D3FB5EB62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0BF0E-DF8F-B198-4FF2-21B7C77A6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0,49∙1,225∙(76/2)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∙3,14∙7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/2 = 466759,5 W = 0,467 MW </a:t>
            </a:r>
            <a:endParaRPr lang="hr-H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 = 8760∙(0,30·0,467 + 0,15∙1,5) = 3198 MWh </a:t>
            </a:r>
            <a:endParaRPr lang="hr-H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 = W/(P</a:t>
            </a:r>
            <a:r>
              <a:rPr lang="en-US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·8760) = 3198/(1,5∙8760) = 0,243 </a:t>
            </a:r>
            <a:endParaRPr lang="hr-H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pe12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P</a:t>
            </a:r>
            <a:r>
              <a:rPr lang="en-US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/(0,5∙1,225∙38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∙3,14∙12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= 0,312</a:t>
            </a:r>
            <a:endParaRPr lang="hr-H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4442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F0B0-DEE5-8753-3C49-495DAD38A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3. zadatak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486D0-449F-305E-6C63-24C7C6F58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>
            <a:normAutofit/>
          </a:bodyPr>
          <a:lstStyle/>
          <a:p>
            <a:pPr algn="l"/>
            <a:endParaRPr lang="hr-HR" sz="18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r>
              <a:rPr lang="es-ES" sz="3000" b="0" i="0" u="none" strike="noStrike" baseline="0" dirty="0" err="1">
                <a:latin typeface="Tahoma" panose="020B0604030504040204" pitchFamily="34" charset="0"/>
              </a:rPr>
              <a:t>Odrediti</a:t>
            </a:r>
            <a:r>
              <a:rPr lang="es-ES" sz="3000" b="0" i="0" u="none" strike="noStrike" baseline="0" dirty="0">
                <a:latin typeface="Tahoma" panose="020B0604030504040204" pitchFamily="34" charset="0"/>
              </a:rPr>
              <a:t> </a:t>
            </a:r>
            <a:r>
              <a:rPr lang="es-ES" sz="3000" b="0" i="0" u="none" strike="noStrike" baseline="0" dirty="0" err="1">
                <a:latin typeface="Tahoma" panose="020B0604030504040204" pitchFamily="34" charset="0"/>
              </a:rPr>
              <a:t>proizvedenu</a:t>
            </a:r>
            <a:r>
              <a:rPr lang="es-ES" sz="3000" b="0" i="0" u="none" strike="noStrike" baseline="0" dirty="0">
                <a:latin typeface="Tahoma" panose="020B0604030504040204" pitchFamily="34" charset="0"/>
              </a:rPr>
              <a:t> el. </a:t>
            </a:r>
            <a:r>
              <a:rPr lang="es-ES" sz="3000" b="0" i="0" u="none" strike="noStrike" baseline="0" dirty="0" err="1">
                <a:latin typeface="Tahoma" panose="020B0604030504040204" pitchFamily="34" charset="0"/>
              </a:rPr>
              <a:t>energiju</a:t>
            </a:r>
            <a:r>
              <a:rPr lang="es-ES" sz="3000" b="0" i="0" u="none" strike="noStrike" baseline="0" dirty="0">
                <a:latin typeface="Tahoma" panose="020B0604030504040204" pitchFamily="34" charset="0"/>
              </a:rPr>
              <a:t> VA </a:t>
            </a:r>
            <a:r>
              <a:rPr lang="es-ES" sz="3000" b="0" i="0" u="none" strike="noStrike" baseline="0" dirty="0" err="1">
                <a:latin typeface="Tahoma" panose="020B0604030504040204" pitchFamily="34" charset="0"/>
              </a:rPr>
              <a:t>prema</a:t>
            </a:r>
            <a:r>
              <a:rPr lang="es-ES" sz="3000" b="0" i="0" u="none" strike="noStrike" baseline="0" dirty="0">
                <a:latin typeface="Tahoma" panose="020B0604030504040204" pitchFamily="34" charset="0"/>
              </a:rPr>
              <a:t> </a:t>
            </a:r>
            <a:r>
              <a:rPr lang="es-ES" sz="3000" b="0" i="0" u="none" strike="noStrike" baseline="0" dirty="0" err="1">
                <a:latin typeface="Tahoma" panose="020B0604030504040204" pitchFamily="34" charset="0"/>
              </a:rPr>
              <a:t>podatcima</a:t>
            </a:r>
            <a:r>
              <a:rPr lang="es-ES" sz="3000" b="0" i="0" u="none" strike="noStrike" baseline="0" dirty="0">
                <a:latin typeface="Tahoma" panose="020B0604030504040204" pitchFamily="34" charset="0"/>
              </a:rPr>
              <a:t>:</a:t>
            </a:r>
          </a:p>
          <a:p>
            <a:pPr lvl="1"/>
            <a:r>
              <a:rPr lang="pl-PL" b="0" i="0" u="none" strike="noStrike" baseline="0" dirty="0">
                <a:latin typeface="Tahoma" panose="020B0604030504040204" pitchFamily="34" charset="0"/>
              </a:rPr>
              <a:t>početna brzina vjetra  vp= 4 m/s;</a:t>
            </a:r>
          </a:p>
          <a:p>
            <a:pPr lvl="1"/>
            <a:r>
              <a:rPr lang="hr-HR" b="0" i="0" u="none" strike="noStrike" baseline="0" dirty="0">
                <a:latin typeface="Tahoma" panose="020B0604030504040204" pitchFamily="34" charset="0"/>
              </a:rPr>
              <a:t>nazivna brzina vjetra  vn= 10 m/s;</a:t>
            </a:r>
          </a:p>
          <a:p>
            <a:pPr lvl="1"/>
            <a:r>
              <a:rPr lang="pl-PL" b="0" i="0" u="none" strike="noStrike" baseline="0" dirty="0">
                <a:latin typeface="Tahoma" panose="020B0604030504040204" pitchFamily="34" charset="0"/>
              </a:rPr>
              <a:t>maks. radna brzina vj.  vmax= 25 m/s;</a:t>
            </a:r>
          </a:p>
          <a:p>
            <a:pPr lvl="1"/>
            <a:r>
              <a:rPr lang="pt-BR" b="0" i="0" u="none" strike="noStrike" baseline="0" dirty="0">
                <a:latin typeface="Tahoma" panose="020B0604030504040204" pitchFamily="34" charset="0"/>
              </a:rPr>
              <a:t>trajanje vjetra između vpi vntp-n= 3000 h;</a:t>
            </a:r>
          </a:p>
          <a:p>
            <a:pPr lvl="1"/>
            <a:r>
              <a:rPr lang="hr-HR" b="0" i="0" u="none" strike="noStrike" baseline="0" dirty="0">
                <a:latin typeface="Tahoma" panose="020B0604030504040204" pitchFamily="34" charset="0"/>
              </a:rPr>
              <a:t>trajanje vjetra između vni vmaxtn= 1500 h;</a:t>
            </a:r>
          </a:p>
          <a:p>
            <a:pPr lvl="1"/>
            <a:r>
              <a:rPr lang="pt-BR" b="0" i="0" u="none" strike="noStrike" baseline="0" dirty="0">
                <a:latin typeface="Tahoma" panose="020B0604030504040204" pitchFamily="34" charset="0"/>
              </a:rPr>
              <a:t>prosječna snaga do nazivne  Pp-n= 0,4 MW;</a:t>
            </a:r>
          </a:p>
          <a:p>
            <a:pPr lvl="1"/>
            <a:r>
              <a:rPr lang="hr-HR" b="0" i="0" u="none" strike="noStrike" baseline="0" dirty="0">
                <a:latin typeface="Tahoma" panose="020B0604030504040204" pitchFamily="34" charset="0"/>
              </a:rPr>
              <a:t>nazivna snaga Pn= 1 MW;</a:t>
            </a:r>
          </a:p>
          <a:p>
            <a:pPr lvl="1"/>
            <a:r>
              <a:rPr lang="hr-HR" b="0" i="0" u="none" strike="noStrike" baseline="0" dirty="0">
                <a:latin typeface="Tahoma" panose="020B0604030504040204" pitchFamily="34" charset="0"/>
              </a:rPr>
              <a:t>raspoloživost r = 90%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5400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357329-7223-1D20-94FE-CE01A44AE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3619500" cy="127635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B7E415-17B0-7E32-DBD0-FF9C625C32AE}"/>
                  </a:ext>
                </a:extLst>
              </p:cNvPr>
              <p:cNvSpPr txBox="1"/>
              <p:nvPr/>
            </p:nvSpPr>
            <p:spPr>
              <a:xfrm>
                <a:off x="971254" y="2034051"/>
                <a:ext cx="6094378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W= Wp-n+ Wn</a:t>
                </a:r>
                <a:endParaRPr lang="hr-HR" sz="2800" b="0" i="0" u="none" strike="noStrike" baseline="0" dirty="0">
                  <a:latin typeface="Times New Roman" panose="02020603050405020304" pitchFamily="18" charset="0"/>
                </a:endParaRPr>
              </a:p>
              <a:p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= r(Pp-n</a:t>
                </a:r>
                <a14:m>
                  <m:oMath xmlns:m="http://schemas.openxmlformats.org/officeDocument/2006/math">
                    <m:r>
                      <a:rPr lang="hr-HR" sz="2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tp-n+Pn</a:t>
                </a:r>
                <a:r>
                  <a:rPr lang="hr-HR" sz="2800" b="0" u="none" strike="noStrike" baseline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r-HR" sz="2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tn)</a:t>
                </a:r>
                <a:endParaRPr lang="hr-HR" sz="2800" b="0" i="0" u="none" strike="noStrike" baseline="0" dirty="0">
                  <a:latin typeface="Times New Roman" panose="02020603050405020304" pitchFamily="18" charset="0"/>
                </a:endParaRPr>
              </a:p>
              <a:p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= 0,9</a:t>
                </a:r>
                <a:r>
                  <a:rPr lang="hr-HR" sz="2800" b="0" u="none" strike="noStrike" baseline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r-HR" sz="2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(0,4</a:t>
                </a:r>
                <a:r>
                  <a:rPr lang="hr-HR" sz="2800" b="0" u="none" strike="noStrike" baseline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r-HR" sz="2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3000+1</a:t>
                </a:r>
                <a:r>
                  <a:rPr lang="hr-HR" sz="2800" b="0" u="none" strike="noStrike" baseline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r-HR" sz="2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1500)</a:t>
                </a:r>
                <a:endParaRPr lang="hr-HR" sz="2800" b="0" i="0" u="none" strike="noStrike" baseline="0" dirty="0">
                  <a:latin typeface="Times New Roman" panose="02020603050405020304" pitchFamily="18" charset="0"/>
                </a:endParaRPr>
              </a:p>
              <a:p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= 0,9</a:t>
                </a:r>
                <a:r>
                  <a:rPr lang="hr-HR" sz="2800" b="0" u="none" strike="noStrike" baseline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r-HR" sz="2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(1200+1500)     </a:t>
                </a:r>
                <a:endParaRPr lang="hr-HR" sz="2800" b="0" i="0" u="none" strike="noStrike" baseline="0" dirty="0">
                  <a:latin typeface="Times New Roman" panose="02020603050405020304" pitchFamily="18" charset="0"/>
                </a:endParaRPr>
              </a:p>
              <a:p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= 0,9</a:t>
                </a:r>
                <a:r>
                  <a:rPr lang="hr-HR" sz="2800" b="0" u="none" strike="noStrike" baseline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r-HR" sz="2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2700</a:t>
                </a:r>
                <a:endParaRPr lang="hr-HR" sz="2800" b="0" i="0" u="none" strike="noStrike" baseline="0" dirty="0">
                  <a:latin typeface="Times New Roman" panose="02020603050405020304" pitchFamily="18" charset="0"/>
                </a:endParaRPr>
              </a:p>
              <a:p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= </a:t>
                </a:r>
                <a:r>
                  <a:rPr lang="hr-HR" sz="2800" b="1" i="1" u="none" strike="noStrike" baseline="0" dirty="0">
                    <a:latin typeface="Times New Roman" panose="02020603050405020304" pitchFamily="18" charset="0"/>
                  </a:rPr>
                  <a:t>2430 </a:t>
                </a:r>
                <a:r>
                  <a:rPr lang="hr-HR" sz="2800" b="0" i="1" u="none" strike="noStrike" baseline="0" dirty="0">
                    <a:latin typeface="Times New Roman" panose="02020603050405020304" pitchFamily="18" charset="0"/>
                  </a:rPr>
                  <a:t>[MWh]</a:t>
                </a:r>
                <a:endParaRPr lang="hr-HR" sz="2800" b="0" i="0" u="none" strike="noStrike" baseline="0" dirty="0">
                  <a:latin typeface="Times New Roman" panose="02020603050405020304" pitchFamily="18" charset="0"/>
                </a:endParaRPr>
              </a:p>
              <a:p>
                <a:r>
                  <a:rPr lang="hr-HR" sz="2800" b="0" i="0" u="none" strike="noStrike" baseline="0" dirty="0">
                    <a:latin typeface="Tahoma" panose="020B0604030504040204" pitchFamily="34" charset="0"/>
                  </a:rPr>
                  <a:t>Za vježbu: </a:t>
                </a:r>
              </a:p>
              <a:p>
                <a:r>
                  <a:rPr lang="hr-HR" sz="2800" b="0" i="0" u="none" strike="noStrike" baseline="0" dirty="0">
                    <a:latin typeface="Tahoma" panose="020B0604030504040204" pitchFamily="34" charset="0"/>
                  </a:rPr>
                  <a:t>Odrediti faktor opterećenja VA.</a:t>
                </a:r>
              </a:p>
              <a:p>
                <a:r>
                  <a:rPr lang="hr-HR" sz="2800" b="0" i="0" u="none" strike="noStrike" baseline="0" dirty="0">
                    <a:latin typeface="Tahoma" panose="020B0604030504040204" pitchFamily="34" charset="0"/>
                  </a:rPr>
                  <a:t>Rj.: 28 %</a:t>
                </a:r>
                <a:endParaRPr lang="hr-HR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B7E415-17B0-7E32-DBD0-FF9C625C3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254" y="2034051"/>
                <a:ext cx="6094378" cy="3970318"/>
              </a:xfrm>
              <a:prstGeom prst="rect">
                <a:avLst/>
              </a:prstGeom>
              <a:blipFill>
                <a:blip r:embed="rId3"/>
                <a:stretch>
                  <a:fillRect l="-2000" t="-1690" b="-2919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475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2336-ACDF-7389-0475-57594B82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4. zadatak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20B5D-3694-7067-DCD8-3DEBB7F8B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Promjer vjetroturbine iznosi 100 m. Vjetroagregat (VA) postiže nazivnu snagu od 2.88 MW uz brzinu vjetra 11 m/s, a ne radi kad je brzina vjetra manja od 5 m/s ili viša od 25 m/s. Koliko bi energije godišnje proizveo VA uz sljedeće podatke i pretpostavke: 40% vremena brzina vjetra je manja od minimalne, 15% vremena brzina vjetra je veća od maksimalne, 25% vremena brzina vjetra iznosi 8 m/s i c</a:t>
            </a:r>
            <a:r>
              <a:rPr lang="hr-HR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</a:t>
            </a:r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0,45, 20% vremena brzina vjetra je između 11 m/s i 25 m/s, kada VA radi na nazivnoj snazi. Gustoća zraka je 1.225 kg/m</a:t>
            </a:r>
            <a:r>
              <a:rPr lang="hr-HR" b="1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Koliki je c</a:t>
            </a:r>
            <a:r>
              <a:rPr lang="hr-HR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</a:t>
            </a:r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kod nazivne brzine? Koliki je faktor opterećenja vjetroelektrane?</a:t>
            </a:r>
            <a:endParaRPr lang="hr-H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33712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2BF98-00F2-615E-A164-421D6EA26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220"/>
            <a:ext cx="10515600" cy="5940743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 =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100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</a:t>
            </a:r>
            <a:endParaRPr lang="hr-H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400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2,88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MW</a:t>
            </a:r>
            <a:endParaRPr lang="hr-H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pe8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0,45</a:t>
            </a:r>
            <a:endParaRPr lang="hr-H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5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m/s</a:t>
            </a:r>
            <a:endParaRPr lang="hr-H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25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m/s</a:t>
            </a:r>
            <a:endParaRPr lang="hr-H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1,225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kg/m</a:t>
            </a:r>
            <a:r>
              <a:rPr lang="en-US" sz="2400" i="1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hr-H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---------------------------------</a:t>
            </a:r>
            <a:endParaRPr lang="hr-H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pe,n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m, = ?</a:t>
            </a:r>
            <a:endParaRPr lang="hr-HR" sz="24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 brzine koje iznose v &lt; vmin i v &gt; vmax vjetroturbina ne radi i snaga iznosi nula.</a:t>
            </a:r>
            <a:endParaRPr lang="hr-H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Snaga koju vjetroturbina razvija pri brzini vjetra od 8 m/s je:</a:t>
            </a:r>
            <a:endParaRPr lang="hr-H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4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0,5 •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pe8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(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/4) •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0,5• 0,45 • 1,225 • (100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/4) • 8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1,11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MW</a:t>
            </a:r>
            <a:endParaRPr lang="hr-H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Godišnje proizvedena električna energija iz vjetroagregata pri brzini vjetra od 8 m/s iznosi:</a:t>
            </a:r>
            <a:endParaRPr lang="hr-H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4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8,god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4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0,25 • 8.760 = 2.431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MWh</a:t>
            </a:r>
            <a:endParaRPr lang="hr-H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3983181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6989D-3B13-6876-347D-0EA9C94DA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7680"/>
            <a:ext cx="10515600" cy="5689283"/>
          </a:xfrm>
        </p:spPr>
        <p:txBody>
          <a:bodyPr>
            <a:normAutofit lnSpcReduction="10000"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Snaga koju vjetroturbina razvija pri opsegu brzine vjetra od 11 do 25 m/s:</a:t>
            </a:r>
            <a:endParaRPr lang="hr-H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8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11-25,god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0,2 • 8.760 = 5.046 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MWh</a:t>
            </a:r>
            <a:endParaRPr lang="hr-H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Godišnje proizvedena električna energija iz vjetroagregata pri opsegu brzine vjetra od 11 do 25 m/s:</a:t>
            </a:r>
            <a:endParaRPr lang="hr-H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800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uk,god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8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8,god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8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11-25,god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7.477 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MWh</a:t>
            </a:r>
            <a:endParaRPr lang="hr-H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Ukupna godišnje proizvedena električna energija iz vjetroagregata:</a:t>
            </a:r>
            <a:endParaRPr lang="hr-H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800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uk,god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8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8,god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8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11-25,god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7.477 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MWh</a:t>
            </a:r>
            <a:endParaRPr lang="hr-H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Iznos koeficijenta C</a:t>
            </a:r>
            <a:r>
              <a:rPr lang="hr-HR" sz="2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pe,n</a:t>
            </a:r>
            <a:r>
              <a:rPr lang="hr-H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pri nazivnoj snazi vjetra:</a:t>
            </a:r>
            <a:endParaRPr lang="hr-H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800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pe,n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2 •</a:t>
            </a:r>
            <a:r>
              <a:rPr lang="en-US" sz="2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(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/4 • 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2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• = 2• 2,88•10</a:t>
            </a:r>
            <a:r>
              <a:rPr lang="en-US" sz="2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(1,225 • 100</a:t>
            </a:r>
            <a:r>
              <a:rPr lang="en-US" sz="2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/4 • 11</a:t>
            </a:r>
            <a:r>
              <a:rPr lang="en-US" sz="2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= 0,45</a:t>
            </a:r>
            <a:endParaRPr lang="hr-H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Faktor opterećenja vjetroagregata iznosi:</a:t>
            </a:r>
            <a:endParaRPr lang="hr-H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800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uk,god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(</a:t>
            </a:r>
            <a:r>
              <a:rPr lang="en-US" sz="2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• 8.760 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= 7.477 / (2,88 • 8.760 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= 0,30</a:t>
            </a:r>
            <a:endParaRPr lang="hr-H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hr-H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30617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E946-7458-712C-8821-57F539A76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5. zadatak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2C99D-C546-73B2-7AC0-43962A0FD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Vjetroagregat (VA) promjera lopatica 54 m, godišnje proizvede 2271 MWh el. en. Faktor opterećenja iznosi 32.4%. Tijekom 27% vremena u godini brzina vjetra je ispod početne, a tijekom 9% vremena iznad maksimalne. (ρ</a:t>
            </a:r>
            <a:r>
              <a:rPr lang="hr-HR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zraka</a:t>
            </a:r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1.225 kg/m3) Za 28% vremena brzina vjetra iznosi oko 6 m/s i VA ima c</a:t>
            </a:r>
            <a:r>
              <a:rPr lang="hr-HR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pe6</a:t>
            </a:r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0.528. Za 23% vremena brzina vjetra iznosi oko 9 m/s i VA ima c</a:t>
            </a:r>
            <a:r>
              <a:rPr lang="hr-HR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pe9</a:t>
            </a:r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0.469. Potrebno je odrediti: nazivnu snagu VA, snagu na 6 i 9 m/s, vrijeme koje VA radi na P</a:t>
            </a:r>
            <a:r>
              <a:rPr lang="hr-HR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ukupno vrijeme koje VA radi, vrijeme koje bi VA trebao raditi na P</a:t>
            </a:r>
            <a:r>
              <a:rPr lang="hr-HR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r-H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za proizvodnju iste količine električne energije, te potrebnu snagu i broj VA da bi se proizvela ista količina el. energije kao i u baznoj elektrani snage 100 MWe (uz faktor opterećenja 0.91).</a:t>
            </a:r>
            <a:endParaRPr lang="hr-H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973096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FC4AF5E-D67C-A37F-B3FA-4C0711322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461794"/>
            <a:ext cx="11125200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54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kumimoji="0" lang="en-US" altLang="sr-Latn-RS" sz="24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god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=2.271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MWh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0,324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sr-Latn-RS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9% </a:t>
            </a:r>
            <a:r>
              <a:rPr kumimoji="0" lang="en-US" altLang="sr-Latn-R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sr-Latn-RS" sz="24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god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sr-Latn-RS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28% </a:t>
            </a:r>
            <a:r>
              <a:rPr kumimoji="0" lang="en-US" altLang="sr-Latn-R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sr-Latn-RS" sz="24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god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sr-Latn-RS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pe6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0,528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sr-Latn-RS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23% </a:t>
            </a:r>
            <a:r>
              <a:rPr kumimoji="0" lang="en-US" altLang="sr-Latn-R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sr-Latn-RS" sz="24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god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sr-Latn-RS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pe9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0,469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---------------------------------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kumimoji="0" lang="en-US" altLang="sr-Latn-RS" sz="24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</a:t>
            </a:r>
            <a:r>
              <a:rPr kumimoji="0" lang="en-US" altLang="sr-Latn-RS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</a:t>
            </a:r>
            <a:r>
              <a:rPr kumimoji="0" lang="en-US" altLang="sr-Latn-RS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sr-Latn-R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sr-Latn-RS" sz="24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sr-Latn-R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sr-Latn-RS" sz="24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rada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</a:t>
            </a:r>
            <a:r>
              <a:rPr kumimoji="0" lang="en-US" altLang="sr-Latn-RS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sr-Latn-R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kumimoji="0" lang="en-US" altLang="sr-Latn-RS" sz="24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?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r-HR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Nazivna snaga vjetroagregata je: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kumimoji="0" lang="en-US" altLang="sr-Latn-RS" sz="24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sr-Latn-R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kumimoji="0" lang="en-US" altLang="sr-Latn-RS" sz="24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god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(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sr-Latn-R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sr-Latn-RS" sz="24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god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= 2.271 / (0,324 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8.760) = 2.271 / 2.838 = 0,8 MW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r-HR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Snaga koju vjetroagregat razvija pri brzini vjetra od 6 m/s: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kumimoji="0" lang="en-US" altLang="sr-Latn-RS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0,5 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kumimoji="0" lang="en-US" altLang="sr-Latn-RS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pe6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0" lang="en-US" altLang="sr-Latn-RS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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/4)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kumimoji="0" lang="en-US" altLang="sr-Latn-RS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0,5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0,528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1,225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(54</a:t>
            </a:r>
            <a:r>
              <a:rPr kumimoji="0" lang="en-US" altLang="sr-Latn-RS" sz="2400" b="0" i="1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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/4)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6</a:t>
            </a:r>
            <a:r>
              <a:rPr kumimoji="0" lang="en-US" altLang="sr-Latn-RS" sz="2400" b="0" i="1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159.982 W = 160 kW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r-HR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Snaga koju vjetroagregat razvija pri brzini vjetra od 9 m/s:</a:t>
            </a:r>
            <a:endParaRPr kumimoji="0" lang="hr-HR" altLang="sr-Latn-R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0" lang="en-US" altLang="sr-Latn-RS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0,5 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0" lang="en-US" altLang="sr-Latn-RS" sz="24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pe9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kumimoji="0" lang="en-US" altLang="sr-Latn-R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0" lang="en-US" altLang="sr-Latn-RS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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/4)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kumimoji="0" lang="en-US" altLang="sr-Latn-RS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0,5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0,469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1,225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(54</a:t>
            </a:r>
            <a:r>
              <a:rPr kumimoji="0" lang="en-US" altLang="sr-Latn-RS" sz="2400" b="0" i="1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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/4)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9</a:t>
            </a:r>
            <a:r>
              <a:rPr kumimoji="0" lang="en-US" altLang="sr-Latn-RS" sz="2400" b="0" i="1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479.360 W = 480 kW</a:t>
            </a:r>
            <a:endParaRPr kumimoji="0" lang="hr-HR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altLang="sr-Latn-R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87969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40C7A-BBB7-CD7A-BF28-A75DDCDC6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492125"/>
            <a:ext cx="11023600" cy="4351338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r-HR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Vrijeme koje VA radi na nazivnoj snazi:</a:t>
            </a:r>
            <a:endParaRPr kumimoji="0" lang="hr-HR" altLang="sr-Latn-R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8.760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(1 - 0,27 - 0,09 - 0,28 - 0,23) = 0,13 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8.760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= 1.139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endParaRPr kumimoji="0" lang="hr-HR" altLang="sr-Latn-R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altLang="sr-Latn-R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r-HR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To se može izračunati i na drugi način:</a:t>
            </a:r>
            <a:endParaRPr kumimoji="0" lang="hr-HR" altLang="sr-Latn-R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god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kumimoji="0" lang="en-US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+ p</a:t>
            </a:r>
            <a:r>
              <a:rPr kumimoji="0" lang="en-US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kumimoji="0" lang="en-US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0" lang="en-US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kumimoji="0" lang="en-US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+ p</a:t>
            </a:r>
            <a:r>
              <a:rPr kumimoji="0" lang="en-US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kumimoji="0" lang="en-US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kumimoji="0" lang="hr-HR" altLang="sr-Latn-R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god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/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-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0" lang="en-US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6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kumimoji="0" lang="en-US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-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0" lang="en-US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kumimoji="0" lang="en-US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2.271 / 0,8 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(0,2 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0,28 + 0,6 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0,23) 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8760 =1.139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endParaRPr kumimoji="0" lang="hr-HR" altLang="sr-Latn-R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altLang="sr-Latn-R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r-HR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Ukupno vrijeme koje VA radi:</a:t>
            </a:r>
            <a:endParaRPr kumimoji="0" lang="hr-HR" altLang="sr-Latn-R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rada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god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nerada</a:t>
            </a:r>
            <a:r>
              <a:rPr kumimoji="0" lang="en-US" altLang="sr-Latn-RS" sz="22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= 8.760 (1 </a:t>
            </a:r>
            <a:r>
              <a:rPr kumimoji="0" lang="en-US" altLang="sr-Latn-RS" sz="2200" b="0" i="1" u="none" strike="noStrike" cap="none" normalizeH="0" baseline="0" dirty="0" bmk="OLE_LINK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0,27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0,09) = 5.606 h</a:t>
            </a:r>
            <a:endParaRPr kumimoji="0" lang="hr-HR" altLang="sr-Latn-R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altLang="sr-Latn-R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r-HR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Vrijeme koje bi VA trebao raditi na P</a:t>
            </a:r>
            <a:r>
              <a:rPr kumimoji="0" lang="hr-HR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hr-HR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za proizvodnju iste električne energije:</a:t>
            </a:r>
            <a:endParaRPr kumimoji="0" lang="hr-HR" altLang="sr-Latn-R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Pn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god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/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m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god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2.271 / 0,8 = 2.838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endParaRPr kumimoji="0" lang="hr-HR" altLang="sr-Latn-R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altLang="sr-Latn-R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hr-HR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Potreban broj VA za proizvodnju električne energiju iz zadatka 1c:</a:t>
            </a:r>
            <a:endParaRPr kumimoji="0" lang="hr-HR" altLang="sr-Latn-R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altLang="sr-Latn-R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altLang="sr-Latn-R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r-HR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Potrebna ukupna snaga VA za proizvodnju električne energiju iz zadatka 1c:</a:t>
            </a:r>
            <a:endParaRPr kumimoji="0" lang="hr-HR" altLang="sr-Latn-R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P'</a:t>
            </a:r>
            <a:r>
              <a:rPr kumimoji="0" lang="en-US" altLang="sr-Latn-RS" sz="22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1c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sr-Latn-R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kumimoji="0" lang="en-US" altLang="sr-Latn-RS" sz="22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351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0,8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MW</a:t>
            </a:r>
            <a:r>
              <a:rPr kumimoji="0" lang="en-US" altLang="sr-Latn-R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280,8 </a:t>
            </a:r>
            <a:r>
              <a:rPr kumimoji="0" lang="en-US" altLang="sr-Latn-R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MW</a:t>
            </a:r>
            <a:endParaRPr kumimoji="0" lang="en-US" altLang="sr-Latn-R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hr-HR" sz="2200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AB4459C-7FB8-65D2-63BD-EADB8C71D0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0468452"/>
              </p:ext>
            </p:extLst>
          </p:nvPr>
        </p:nvGraphicFramePr>
        <p:xfrm>
          <a:off x="584200" y="5234940"/>
          <a:ext cx="3280269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47900" imgH="431800" progId="Equation.3">
                  <p:embed/>
                </p:oleObj>
              </mc:Choice>
              <mc:Fallback>
                <p:oleObj r:id="rId2" imgW="22479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5234940"/>
                        <a:ext cx="3280269" cy="625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9960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EF5E-640F-61D7-9241-347C65E2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6. zadatak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1B25B68-07B9-130E-0F6C-6496EBE33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987" y="2006600"/>
            <a:ext cx="11496153" cy="3132931"/>
          </a:xfrm>
        </p:spPr>
      </p:pic>
    </p:spTree>
    <p:extLst>
      <p:ext uri="{BB962C8B-B14F-4D97-AF65-F5344CB8AC3E}">
        <p14:creationId xmlns:p14="http://schemas.microsoft.com/office/powerpoint/2010/main" val="3768608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2370-8310-8922-EA6F-C889C785A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2912E0-3D86-99DD-7DC3-32A0170A6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893" y="481850"/>
            <a:ext cx="11117907" cy="5530807"/>
          </a:xfrm>
        </p:spPr>
      </p:pic>
    </p:spTree>
    <p:extLst>
      <p:ext uri="{BB962C8B-B14F-4D97-AF65-F5344CB8AC3E}">
        <p14:creationId xmlns:p14="http://schemas.microsoft.com/office/powerpoint/2010/main" val="413915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1421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Tahoma</vt:lpstr>
      <vt:lpstr>Times New Roman</vt:lpstr>
      <vt:lpstr>Office Theme</vt:lpstr>
      <vt:lpstr>Equation.3</vt:lpstr>
      <vt:lpstr>Auditorne vježbe Vjetroelektrane</vt:lpstr>
      <vt:lpstr>1. zadatak</vt:lpstr>
      <vt:lpstr>PowerPoint Presentation</vt:lpstr>
      <vt:lpstr>2. zadatak</vt:lpstr>
      <vt:lpstr>PowerPoint Presentation</vt:lpstr>
      <vt:lpstr>3. zadatak</vt:lpstr>
      <vt:lpstr>PowerPoint Presentation</vt:lpstr>
      <vt:lpstr>4. zadatak</vt:lpstr>
      <vt:lpstr>PowerPoint Presentation</vt:lpstr>
      <vt:lpstr>PowerPoint Presentation</vt:lpstr>
      <vt:lpstr>5. zadatak</vt:lpstr>
      <vt:lpstr>PowerPoint Presentation</vt:lpstr>
      <vt:lpstr>PowerPoint Presentation</vt:lpstr>
      <vt:lpstr>6. zadatak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Auditorne vježbe Vjetroelektrane</dc:title>
  <dc:creator>Paulina Dučkić</dc:creator>
  <cp:lastModifiedBy>Paulina Dučkić</cp:lastModifiedBy>
  <cp:revision>1</cp:revision>
  <dcterms:created xsi:type="dcterms:W3CDTF">2022-06-01T07:56:44Z</dcterms:created>
  <dcterms:modified xsi:type="dcterms:W3CDTF">2022-06-01T09:15:26Z</dcterms:modified>
</cp:coreProperties>
</file>